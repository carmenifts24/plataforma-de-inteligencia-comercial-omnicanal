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carmenifts24/Plataforma-de-Inteligencia-Comercial-Omnicana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331720"/>
            <a:ext cx="91440" cy="13716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92A3"/>
                </a:solidFill>
                <a:latin typeface="Segoe UI"/>
              </a:rPr>
              <a:t>PROYECTO INTEGRADOR — TECNICATURA SUPERIOR EN CIENCIAS DE DATOS 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5F7FA"/>
                </a:solidFill>
                <a:latin typeface="Segoe UI"/>
              </a:rPr>
              <a:t>RetailIQ 360°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78ADD"/>
                </a:solidFill>
                <a:latin typeface="Segoe UI"/>
              </a:rPr>
              <a:t>Plataforma de Inteligencia Comercial Omnicanal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0CF"/>
                </a:solidFill>
                <a:latin typeface="Segoe UI"/>
              </a:rPr>
              <a:t>Análisis de ventas, pricing dinámico y estrategia de cross-selling en el mercado argentino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F5F7FA"/>
                </a:solidFill>
                <a:latin typeface="Segoe UI"/>
              </a:rPr>
              <a:t>Carmen M. Rodríguez  ·  Tamara W. Peña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B8C0CF"/>
                </a:solidFill>
                <a:latin typeface="Segoe UI"/>
              </a:rPr>
              <a:t>Profesor asesor: Erick Ravelo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8992A3"/>
                </a:solidFill>
                <a:latin typeface="Segoe UI"/>
              </a:rPr>
              <a:t>Instituto de Formación Técnica Superior N° 24</a:t>
            </a:r>
          </a:p>
        </p:txBody>
      </p:sp>
      <p:pic>
        <p:nvPicPr>
          <p:cNvPr id="10" name="Picture 9" descr="IFTS24_logo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5806440"/>
            <a:ext cx="1310524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Datos fragmentados, decisiones a ciegas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10911535" cy="448056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10271455" cy="3552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Tres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sistemas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, cero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visión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unificada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. 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Tienda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física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, sitio web y marketplace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registran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las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ventas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en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plataformas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separadas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Sin panorama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completo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. 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No es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posible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saber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qué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canal es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más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rentable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ni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si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los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precios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están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bien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posicionados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frente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a la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competencia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Un mercado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que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ya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no es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secundario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. 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253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millones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órdenes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y $34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billones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facturados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en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2025, +55%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interanual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(CACE).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La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inflación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distorsiona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el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análisis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. 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Un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crecimiento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nominal del 40%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puede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ser,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en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términos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reales,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una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pérdida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terreno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Del dato disperso a la decisión accionable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5272887" cy="448056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37052"/>
            <a:ext cx="4632807" cy="1475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dirty="0" err="1">
                <a:solidFill>
                  <a:srgbClr val="F5F7FA"/>
                </a:solidFill>
                <a:latin typeface="Segoe UI"/>
              </a:rPr>
              <a:t>Objetivo</a:t>
            </a:r>
            <a:r>
              <a:rPr sz="1900" b="1" dirty="0">
                <a:solidFill>
                  <a:srgbClr val="F5F7FA"/>
                </a:solidFill>
                <a:latin typeface="Segoe UI"/>
              </a:rPr>
              <a:t> general</a:t>
            </a:r>
          </a:p>
          <a:p>
            <a:pPr algn="just">
              <a:lnSpc>
                <a:spcPct val="110000"/>
              </a:lnSpc>
              <a:spcAft>
                <a:spcPts val="1200"/>
              </a:spcAft>
            </a:pPr>
            <a:r>
              <a:rPr sz="15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Desarrollar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una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plataforma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de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inteligencia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comercial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omnicanal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que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integre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ventas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,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precios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y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comportamiento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de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clientes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de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una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empresa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 retail </a:t>
            </a:r>
            <a:r>
              <a:rPr sz="1550" b="0" dirty="0" err="1">
                <a:solidFill>
                  <a:srgbClr val="F5F7FA"/>
                </a:solidFill>
                <a:latin typeface="Segoe UI"/>
              </a:rPr>
              <a:t>argentina</a:t>
            </a:r>
            <a:r>
              <a:rPr sz="1550" b="0" dirty="0">
                <a:solidFill>
                  <a:srgbClr val="F5F7FA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91640"/>
            <a:ext cx="5272887" cy="779068"/>
          </a:xfrm>
          <a:prstGeom prst="roundRect">
            <a:avLst>
              <a:gd name="adj" fmla="val 12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1. Modelo de datos unificado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Esquema galaxia procesable con DAX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617012"/>
            <a:ext cx="5272887" cy="779068"/>
          </a:xfrm>
          <a:prstGeom prst="roundRect">
            <a:avLst>
              <a:gd name="adj" fmla="val 12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2. Ventas omnicanal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Indicadores ajustados por inflación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542385"/>
            <a:ext cx="5272887" cy="779068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3. Inteligencia de precios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Price index + simulador What-If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4467758"/>
            <a:ext cx="5272887" cy="779068"/>
          </a:xfrm>
          <a:prstGeom prst="roundRect">
            <a:avLst>
              <a:gd name="adj" fmla="val 12000"/>
            </a:avLst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4. Cross-selling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Algoritmo Apriori sobre la base transaccional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5393131"/>
            <a:ext cx="5272887" cy="779068"/>
          </a:xfrm>
          <a:prstGeom prst="roundRect">
            <a:avLst>
              <a:gd name="adj" fmla="val 12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5. Segmentación de clientes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Modelo RFM: valor, riesgo y CLV estimado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HIPÓTESIS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Tres supuestos a validar con el modelo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10911535" cy="1395984"/>
          </a:xfrm>
          <a:prstGeom prst="roundRect">
            <a:avLst>
              <a:gd name="adj" fmla="val 12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H1 — Fragmentación y rentabilidad por canal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Al unificar los canales aparecerán diferencias de margen hoy invisibles: al menos uno se desviará +5 pp del promedio.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33928"/>
            <a:ext cx="10911535" cy="1395984"/>
          </a:xfrm>
          <a:prstGeom prst="roundRect">
            <a:avLst>
              <a:gd name="adj" fmla="val 12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H2 — Precios desactualizados en contexto inflacionario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Al menos el 20% de los SKU mostrará un precio desviado &gt;10% respecto de la referencia de mercado.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76216"/>
            <a:ext cx="10911535" cy="1395984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H3 — Patrones de compra como oportunidad de cross-selling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El algoritmo Apriori identificará al menos 5 reglas de asociación con lift mayor a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LA SOLUCIÓN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Cuatro módulos analíticos, un solo modelo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5272887" cy="1010412"/>
          </a:xfrm>
          <a:prstGeom prst="roundRect">
            <a:avLst>
              <a:gd name="adj" fmla="val 12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Ventas omnicanal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Consolidación multicanal con ajuste por inflación (IPC INDEC)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48356"/>
            <a:ext cx="5272887" cy="1010412"/>
          </a:xfrm>
          <a:prstGeom prst="roundRect">
            <a:avLst>
              <a:gd name="adj" fmla="val 12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Pricing dinámico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Price index vs. competencia + simulador de descuentos What-If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05072"/>
            <a:ext cx="5272887" cy="1010412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Market basket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Algoritmo Apriori: reglas de asociación entre productos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61788"/>
            <a:ext cx="5272887" cy="1010412"/>
          </a:xfrm>
          <a:prstGeom prst="roundRect">
            <a:avLst>
              <a:gd name="adj" fmla="val 12000"/>
            </a:avLst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Segmentación RFM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4 segmentos de clientes + CLV estimado, calculados en DAX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691640"/>
            <a:ext cx="5272887" cy="448056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98767" y="20116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8767" y="20116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8767" y="20116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767" y="20116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8767" y="2011680"/>
            <a:ext cx="4632807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5F7FA"/>
                </a:solidFill>
                <a:latin typeface="Segoe UI"/>
              </a:rPr>
              <a:t>Datos y validación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>
                <a:solidFill>
                  <a:srgbClr val="F5F7FA"/>
                </a:solidFill>
                <a:latin typeface="Segoe UI"/>
              </a:rPr>
              <a:t>Fuentes de datos: </a:t>
            </a:r>
            <a:r>
              <a:rPr sz="1450" b="0">
                <a:solidFill>
                  <a:srgbClr val="B8C0CF"/>
                </a:solidFill>
                <a:latin typeface="Segoe UI"/>
              </a:rPr>
              <a:t>Olist Brazilian E-Commerce + Superstore Sales (Kaggle).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>
                <a:solidFill>
                  <a:srgbClr val="F5F7FA"/>
                </a:solidFill>
                <a:latin typeface="Segoe UI"/>
              </a:rPr>
              <a:t>Localización Argentina: </a:t>
            </a:r>
            <a:r>
              <a:rPr sz="1450" b="0">
                <a:solidFill>
                  <a:srgbClr val="B8C0CF"/>
                </a:solidFill>
                <a:latin typeface="Segoe UI"/>
              </a:rPr>
              <a:t>capa generada con Python (Faker), sobre datos públicos.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>
                <a:solidFill>
                  <a:srgbClr val="F5F7FA"/>
                </a:solidFill>
                <a:latin typeface="Segoe UI"/>
              </a:rPr>
              <a:t>Contexto macro: </a:t>
            </a:r>
            <a:r>
              <a:rPr sz="1450" b="0">
                <a:solidFill>
                  <a:srgbClr val="B8C0CF"/>
                </a:solidFill>
                <a:latin typeface="Segoe UI"/>
              </a:rPr>
              <a:t>inflación (INDEC) y tipo de cambio (BCRA).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>
                <a:solidFill>
                  <a:srgbClr val="F5F7FA"/>
                </a:solidFill>
                <a:latin typeface="Segoe UI"/>
              </a:rPr>
              <a:t>Validación: </a:t>
            </a:r>
            <a:r>
              <a:rPr sz="1450" b="0">
                <a:solidFill>
                  <a:srgbClr val="B8C0CF"/>
                </a:solidFill>
                <a:latin typeface="Segoe UI"/>
              </a:rPr>
              <a:t>sin nulos en claves del modelo; reglas Apriori con lift ≥ 1; segmentos RFM concentran el revenue esperado.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DESCRIPCIÓN TÉCNICA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Arquitectura: esquema galaxia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5272887" cy="841248"/>
          </a:xfrm>
          <a:prstGeom prst="roundRect">
            <a:avLst>
              <a:gd name="adj" fmla="val 12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FactVentas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Todas las transacciones de venta de los tres canales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79192"/>
            <a:ext cx="5272887" cy="841248"/>
          </a:xfrm>
          <a:prstGeom prst="roundRect">
            <a:avLst>
              <a:gd name="adj" fmla="val 12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FactPreciosComp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Relevamiento de precios de la competencia por SKU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272887" cy="246888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02336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383" y="3815255"/>
            <a:ext cx="4632807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Dimensiones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compartidas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DimProducto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DimTiempo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y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DimCanal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permiten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análisis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cruzados sin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duplicar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datos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Dimensiones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 de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apoyo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DimCliente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DimGeografia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DimSucursal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DimInflacion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Relaciones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inactivas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FactPreciosComp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se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activa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con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USERELATIONSHIP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solo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cuando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la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medida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lo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requiere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evitando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ambigüedad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691640"/>
            <a:ext cx="5272887" cy="448056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767" y="20116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8767" y="20116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8767" y="2011680"/>
            <a:ext cx="4632807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dirty="0" err="1">
                <a:solidFill>
                  <a:srgbClr val="F5F7FA"/>
                </a:solidFill>
                <a:latin typeface="Segoe UI"/>
              </a:rPr>
              <a:t>Justificación</a:t>
            </a:r>
            <a:r>
              <a:rPr sz="1900" b="1" dirty="0">
                <a:solidFill>
                  <a:srgbClr val="F5F7FA"/>
                </a:solidFill>
                <a:latin typeface="Segoe UI"/>
              </a:rPr>
              <a:t> del </a:t>
            </a:r>
            <a:r>
              <a:rPr sz="1900" b="1" dirty="0" err="1">
                <a:solidFill>
                  <a:srgbClr val="F5F7FA"/>
                </a:solidFill>
                <a:latin typeface="Segoe UI"/>
              </a:rPr>
              <a:t>modelo</a:t>
            </a:r>
            <a:endParaRPr sz="1900" b="1" dirty="0">
              <a:solidFill>
                <a:srgbClr val="F5F7FA"/>
              </a:solidFill>
              <a:latin typeface="Segoe UI"/>
            </a:endParaRPr>
          </a:p>
          <a:p>
            <a:pPr algn="l">
              <a:lnSpc>
                <a:spcPct val="200000"/>
              </a:lnSpc>
              <a:spcAft>
                <a:spcPts val="1200"/>
              </a:spcAft>
            </a:pPr>
            <a:r>
              <a:rPr sz="15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500" b="1" dirty="0">
                <a:solidFill>
                  <a:srgbClr val="F5F7FA"/>
                </a:solidFill>
                <a:latin typeface="Segoe UI"/>
              </a:rPr>
              <a:t>Por </a:t>
            </a:r>
            <a:r>
              <a:rPr sz="1500" b="1" dirty="0" err="1">
                <a:solidFill>
                  <a:srgbClr val="F5F7FA"/>
                </a:solidFill>
                <a:latin typeface="Segoe UI"/>
              </a:rPr>
              <a:t>qué</a:t>
            </a:r>
            <a:r>
              <a:rPr sz="15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F5F7FA"/>
                </a:solidFill>
                <a:latin typeface="Segoe UI"/>
              </a:rPr>
              <a:t>galaxia</a:t>
            </a:r>
            <a:r>
              <a:rPr sz="1500" b="1" dirty="0">
                <a:solidFill>
                  <a:srgbClr val="F5F7FA"/>
                </a:solidFill>
                <a:latin typeface="Segoe UI"/>
              </a:rPr>
              <a:t> y no estrella: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ventas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y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precios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competencia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son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procesos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negocio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distintos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, con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granularidad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propia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que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igual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necesitan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compararse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contra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los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mismos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productos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períodos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y canales.</a:t>
            </a:r>
          </a:p>
          <a:p>
            <a:pPr algn="l">
              <a:lnSpc>
                <a:spcPct val="200000"/>
              </a:lnSpc>
              <a:spcAft>
                <a:spcPts val="1200"/>
              </a:spcAft>
            </a:pPr>
            <a:r>
              <a:rPr sz="15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500" b="1" dirty="0" err="1">
                <a:solidFill>
                  <a:srgbClr val="F5F7FA"/>
                </a:solidFill>
                <a:latin typeface="Segoe UI"/>
              </a:rPr>
              <a:t>Resultado</a:t>
            </a:r>
            <a:r>
              <a:rPr sz="15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2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tablas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hechos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, 8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dimensiones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, 13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relaciones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validadas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cardinalidad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muchos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a uno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en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todos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los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B8C0CF"/>
                </a:solidFill>
                <a:latin typeface="Segoe UI"/>
              </a:rPr>
              <a:t>casos</a:t>
            </a:r>
            <a:r>
              <a:rPr sz="1500" b="0" dirty="0">
                <a:solidFill>
                  <a:srgbClr val="B8C0CF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DESCRIPCIÓN TÉCNICA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>
                <a:solidFill>
                  <a:srgbClr val="F5F7FA"/>
                </a:solidFill>
                <a:latin typeface="Segoe UI"/>
              </a:rPr>
              <a:t>Stack </a:t>
            </a:r>
            <a:r>
              <a:rPr sz="3000" b="1" i="0" dirty="0" err="1">
                <a:solidFill>
                  <a:srgbClr val="F5F7FA"/>
                </a:solidFill>
                <a:latin typeface="Segoe UI"/>
              </a:rPr>
              <a:t>tecnológico</a:t>
            </a:r>
            <a:endParaRPr sz="3000" b="1" i="0" dirty="0">
              <a:solidFill>
                <a:srgbClr val="F5F7FA"/>
              </a:solidFill>
              <a:latin typeface="Segoe UI"/>
            </a:endParaRP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10911535" cy="793699"/>
          </a:xfrm>
          <a:prstGeom prst="roundRect">
            <a:avLst>
              <a:gd name="adj" fmla="val 12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Python (pandas, numpy, Faker, mlxtend)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ETL, generación de datos sintéticos y algoritmo Apriori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13355"/>
            <a:ext cx="10911535" cy="793699"/>
          </a:xfrm>
          <a:prstGeom prst="roundRect">
            <a:avLst>
              <a:gd name="adj" fmla="val 12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Power BI Desktop + DAX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Modelado del esquema galaxia, medidas y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35070"/>
            <a:ext cx="10911535" cy="793699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Power Query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Transformaciones finales: tipado, columnas derivadas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56785"/>
            <a:ext cx="10911535" cy="793699"/>
          </a:xfrm>
          <a:prstGeom prst="roundRect">
            <a:avLst>
              <a:gd name="adj" fmla="val 12000"/>
            </a:avLst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DAX Studio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Optimización de medidas con VertiPaq Analyzer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78500"/>
            <a:ext cx="10911535" cy="793699"/>
          </a:xfrm>
          <a:prstGeom prst="roundRect">
            <a:avLst>
              <a:gd name="adj" fmla="val 12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GitHub</a:t>
            </a:r>
          </a:p>
          <a:p>
            <a:pPr algn="l"/>
            <a:r>
              <a:rPr sz="1250" b="0">
                <a:solidFill>
                  <a:srgbClr val="EAEEF5"/>
                </a:solidFill>
                <a:latin typeface="Segoe UI"/>
              </a:rPr>
              <a:t>Control de versiones de código y documentación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Dashboard ejecutivo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75320" y="1691640"/>
            <a:ext cx="3276295" cy="561441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378ADD"/>
                </a:solidFill>
                <a:latin typeface="Segoe UI"/>
              </a:rPr>
              <a:t>$81.13M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B8C0CF"/>
                </a:solidFill>
                <a:latin typeface="Segoe UI"/>
              </a:rPr>
              <a:t>Ventas totales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362809"/>
            <a:ext cx="3276295" cy="561441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7F77DD"/>
                </a:solidFill>
                <a:latin typeface="Segoe UI"/>
              </a:rPr>
              <a:t>96 mil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B8C0CF"/>
                </a:solidFill>
                <a:latin typeface="Segoe UI"/>
              </a:rPr>
              <a:t>Órdenes únicas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033979"/>
            <a:ext cx="3276295" cy="561441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1D9E75"/>
                </a:solidFill>
                <a:latin typeface="Segoe UI"/>
              </a:rPr>
              <a:t>$840.93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B8C0CF"/>
                </a:solidFill>
                <a:latin typeface="Segoe UI"/>
              </a:rPr>
              <a:t>Ticket promedio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705148"/>
            <a:ext cx="3276295" cy="561441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EF9F27"/>
                </a:solidFill>
                <a:latin typeface="Segoe UI"/>
              </a:rPr>
              <a:t>$25.18M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B8C0CF"/>
                </a:solidFill>
                <a:latin typeface="Segoe UI"/>
              </a:rPr>
              <a:t>Margen bruto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376318"/>
            <a:ext cx="3276295" cy="561441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5DCAA5"/>
                </a:solidFill>
                <a:latin typeface="Segoe UI"/>
              </a:rPr>
              <a:t>31.03%</a:t>
            </a:r>
          </a:p>
          <a:p>
            <a:pPr algn="ctr">
              <a:lnSpc>
                <a:spcPct val="100000"/>
              </a:lnSpc>
            </a:pPr>
            <a:r>
              <a:rPr sz="1000">
                <a:solidFill>
                  <a:srgbClr val="B8C0CF"/>
                </a:solidFill>
                <a:latin typeface="Segoe UI"/>
              </a:rPr>
              <a:t>% Margen promedio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53212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53212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53212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393387"/>
            <a:ext cx="102714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92% de la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facturación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corresponde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a canales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digitales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; el marketplace es el canal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dominante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La </a:t>
            </a:r>
            <a:r>
              <a:rPr sz="1450" b="1" dirty="0" err="1">
                <a:solidFill>
                  <a:srgbClr val="F5F7FA"/>
                </a:solidFill>
                <a:latin typeface="Segoe UI"/>
              </a:rPr>
              <a:t>brecha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 nominal vs. real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se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amplia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notoriamente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en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2018,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evidenciando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el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impacto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inflacionario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450" b="1" dirty="0">
                <a:solidFill>
                  <a:srgbClr val="F5F7FA"/>
                </a:solidFill>
                <a:latin typeface="Segoe UI"/>
              </a:rPr>
              <a:t>Alimentos y Bebidas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es la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única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categoría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con price index mayor a 1 (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posicionada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por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450" b="0" dirty="0" err="1">
                <a:solidFill>
                  <a:srgbClr val="B8C0CF"/>
                </a:solidFill>
                <a:latin typeface="Segoe UI"/>
              </a:rPr>
              <a:t>encima</a:t>
            </a:r>
            <a:r>
              <a:rPr sz="1450" b="0" dirty="0">
                <a:solidFill>
                  <a:srgbClr val="B8C0CF"/>
                </a:solidFill>
                <a:latin typeface="Segoe UI"/>
              </a:rPr>
              <a:t> del mercado).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F766630-9694-7485-54AF-7E9BD74B6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45" y="1578159"/>
            <a:ext cx="6454624" cy="339126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Viabilidad económica: análisis VAN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7421" y="1650491"/>
            <a:ext cx="1181061" cy="1188720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E24B4A"/>
                </a:solidFill>
                <a:latin typeface="Segoe UI"/>
              </a:rPr>
              <a:t>-USD 3.456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B8C0CF"/>
                </a:solidFill>
                <a:latin typeface="Segoe UI"/>
              </a:rPr>
              <a:t>Año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1362" y="1650491"/>
            <a:ext cx="1181061" cy="1188720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1D9E75"/>
                </a:solidFill>
                <a:latin typeface="Segoe UI"/>
              </a:rPr>
              <a:t>+USD 3.444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B8C0CF"/>
                </a:solidFill>
                <a:latin typeface="Segoe UI"/>
              </a:rPr>
              <a:t>Año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5304" y="1650491"/>
            <a:ext cx="1181061" cy="1188720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1D9E75"/>
                </a:solidFill>
                <a:latin typeface="Segoe UI"/>
              </a:rPr>
              <a:t>+USD 17.444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B8C0CF"/>
                </a:solidFill>
                <a:latin typeface="Segoe UI"/>
              </a:rPr>
              <a:t>Año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9246" y="1650491"/>
            <a:ext cx="1181061" cy="1188720"/>
          </a:xfrm>
          <a:prstGeom prst="roundRect">
            <a:avLst>
              <a:gd name="adj" fmla="val 10000"/>
            </a:avLst>
          </a:prstGeom>
          <a:solidFill>
            <a:srgbClr val="242835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1D9E75"/>
                </a:solidFill>
                <a:latin typeface="Segoe UI"/>
              </a:rPr>
              <a:t>+USD 38.224</a:t>
            </a:r>
          </a:p>
          <a:p>
            <a:pPr algn="ctr">
              <a:lnSpc>
                <a:spcPct val="100000"/>
              </a:lnSpc>
            </a:pPr>
            <a:r>
              <a:rPr sz="1150">
                <a:solidFill>
                  <a:srgbClr val="B8C0CF"/>
                </a:solidFill>
                <a:latin typeface="Segoe UI"/>
              </a:rPr>
              <a:t>Año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10911535" cy="306324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429000"/>
            <a:ext cx="10271455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200000"/>
              </a:lnSpc>
              <a:spcAft>
                <a:spcPts val="1200"/>
              </a:spcAft>
            </a:pPr>
            <a:r>
              <a:rPr sz="16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VAN a 3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años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 (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tasa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 30%): 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USD 26.913,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positivo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200000"/>
              </a:lnSpc>
              <a:spcAft>
                <a:spcPts val="1200"/>
              </a:spcAft>
            </a:pPr>
            <a:r>
              <a:rPr sz="16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Relación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beneficio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/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costo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≈ 2.8:1 —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beneficios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acumulados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USD 86.600 vs.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gastos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USD 30.944.</a:t>
            </a:r>
          </a:p>
          <a:p>
            <a:pPr algn="l">
              <a:lnSpc>
                <a:spcPct val="200000"/>
              </a:lnSpc>
              <a:spcAft>
                <a:spcPts val="1200"/>
              </a:spcAft>
            </a:pPr>
            <a:r>
              <a:rPr sz="16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Estructura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 de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costos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liviana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dominada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herramientas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de IA e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infraestructura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Microsoft 365.</a:t>
            </a:r>
          </a:p>
          <a:p>
            <a:pPr algn="l">
              <a:lnSpc>
                <a:spcPct val="200000"/>
              </a:lnSpc>
              <a:spcAft>
                <a:spcPts val="1200"/>
              </a:spcAft>
            </a:pPr>
            <a:r>
              <a:rPr sz="16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Punto de </a:t>
            </a:r>
            <a:r>
              <a:rPr sz="1600" b="1" dirty="0" err="1">
                <a:solidFill>
                  <a:srgbClr val="F5F7FA"/>
                </a:solidFill>
                <a:latin typeface="Segoe UI"/>
              </a:rPr>
              <a:t>equilibrio</a:t>
            </a:r>
            <a:r>
              <a:rPr sz="16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3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clientes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piloto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a USD 150/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mes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cubren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los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gastos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operativos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del </a:t>
            </a:r>
            <a:r>
              <a:rPr sz="1600" b="0" dirty="0" err="1">
                <a:solidFill>
                  <a:srgbClr val="B8C0CF"/>
                </a:solidFill>
                <a:latin typeface="Segoe UI"/>
              </a:rPr>
              <a:t>año</a:t>
            </a:r>
            <a:r>
              <a:rPr sz="1600" b="0" dirty="0">
                <a:solidFill>
                  <a:srgbClr val="B8C0CF"/>
                </a:solidFill>
                <a:latin typeface="Segoe UI"/>
              </a:rPr>
              <a:t>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CIERRE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Conclusiones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10911535" cy="4480560"/>
          </a:xfrm>
          <a:prstGeom prst="roundRect">
            <a:avLst>
              <a:gd name="adj" fmla="val 6000"/>
            </a:avLst>
          </a:prstGeom>
          <a:solidFill>
            <a:srgbClr val="1C1F2A"/>
          </a:solidFill>
          <a:ln w="12700">
            <a:solidFill>
              <a:srgbClr val="2D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10271455" cy="37716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2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Plataforma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funcional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y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documentada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10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páginas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 dashboard, 8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preguntas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negocio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respondidas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2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Modelo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consistente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esquema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galaxia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con 13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relaciones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validadas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, sin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ambigüedad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filtros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.</a:t>
            </a:r>
          </a:p>
          <a:p>
            <a:pPr algn="l">
              <a:lnSpc>
                <a:spcPct val="2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El 92% de las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ventas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corresponde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a canales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digitales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coherente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con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los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benchmarks CACE 2025.</a:t>
            </a:r>
          </a:p>
          <a:p>
            <a:pPr algn="l">
              <a:lnSpc>
                <a:spcPct val="2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RFM y K-Means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producen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segmentos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complementarios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: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recencia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vs.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comportamiento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global.</a:t>
            </a:r>
          </a:p>
          <a:p>
            <a:pPr algn="l">
              <a:lnSpc>
                <a:spcPct val="250000"/>
              </a:lnSpc>
              <a:spcAft>
                <a:spcPts val="1200"/>
              </a:spcAft>
            </a:pPr>
            <a:r>
              <a:rPr sz="1700" b="1" dirty="0">
                <a:solidFill>
                  <a:srgbClr val="378ADD"/>
                </a:solidFill>
                <a:latin typeface="Segoe UI"/>
              </a:rPr>
              <a:t>▸ 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Viabilidad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económica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F5F7FA"/>
                </a:solidFill>
                <a:latin typeface="Segoe UI"/>
              </a:rPr>
              <a:t>confirmada</a:t>
            </a:r>
            <a:r>
              <a:rPr sz="1700" b="1" dirty="0">
                <a:solidFill>
                  <a:srgbClr val="F5F7FA"/>
                </a:solidFill>
                <a:latin typeface="Segoe UI"/>
              </a:rPr>
              <a:t>: 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VAN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positivo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bajo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una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tasa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descuento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B8C0CF"/>
                </a:solidFill>
                <a:latin typeface="Segoe UI"/>
              </a:rPr>
              <a:t>exigente</a:t>
            </a:r>
            <a:r>
              <a:rPr sz="1700" b="0" dirty="0">
                <a:solidFill>
                  <a:srgbClr val="B8C0CF"/>
                </a:solidFill>
                <a:latin typeface="Segoe UI"/>
              </a:rPr>
              <a:t> del 30%.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8ADD"/>
                </a:solidFill>
                <a:latin typeface="Segoe UI"/>
              </a:rPr>
              <a:t>TRABAJO FUTURO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73152" cy="47548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50392"/>
            <a:ext cx="94484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F7FA"/>
                </a:solidFill>
                <a:latin typeface="Segoe UI"/>
              </a:rPr>
              <a:t>Próximos pasos</a:t>
            </a:r>
          </a:p>
        </p:txBody>
      </p:sp>
      <p:sp>
        <p:nvSpPr>
          <p:cNvPr id="5" name="Isosceles Triangle 4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12700">
            <a:solidFill>
              <a:srgbClr val="2D3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691640"/>
            <a:ext cx="10911535" cy="647395"/>
          </a:xfrm>
          <a:prstGeom prst="roundRect">
            <a:avLst>
              <a:gd name="adj" fmla="val 25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1.  Incorporar datos de costo real por SKU para un margen preciso</a:t>
            </a:r>
          </a:p>
        </p:txBody>
      </p:sp>
      <p:sp>
        <p:nvSpPr>
          <p:cNvPr id="9" name="Down Arrow 8"/>
          <p:cNvSpPr/>
          <p:nvPr/>
        </p:nvSpPr>
        <p:spPr>
          <a:xfrm>
            <a:off x="1294772" y="2357323"/>
            <a:ext cx="274320" cy="201168"/>
          </a:xfrm>
          <a:prstGeom prst="downArrow">
            <a:avLst/>
          </a:prstGeom>
          <a:solidFill>
            <a:srgbClr val="2D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649931"/>
            <a:ext cx="9683987" cy="647395"/>
          </a:xfrm>
          <a:prstGeom prst="roundRect">
            <a:avLst>
              <a:gd name="adj" fmla="val 25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2.  Sumar datos de stock: sell-through rate y rotación de inventario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221119" y="3315614"/>
            <a:ext cx="274320" cy="201168"/>
          </a:xfrm>
          <a:prstGeom prst="downArrow">
            <a:avLst/>
          </a:prstGeom>
          <a:solidFill>
            <a:srgbClr val="2D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608222"/>
            <a:ext cx="8456439" cy="647395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3.  Granularidad horaria para detectar patrones intradía (app móvil)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147466" y="4273905"/>
            <a:ext cx="274320" cy="201168"/>
          </a:xfrm>
          <a:prstGeom prst="downArrow">
            <a:avLst/>
          </a:prstGeom>
          <a:solidFill>
            <a:srgbClr val="2D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566513"/>
            <a:ext cx="7228891" cy="647395"/>
          </a:xfrm>
          <a:prstGeom prst="roundRect">
            <a:avLst>
              <a:gd name="adj" fmla="val 25000"/>
            </a:avLst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4.  Dimensión de eventos comerciales (Hot Sale, CyberMonday)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73813" y="5232196"/>
            <a:ext cx="274320" cy="201168"/>
          </a:xfrm>
          <a:prstGeom prst="downArrow">
            <a:avLst/>
          </a:prstGeom>
          <a:solidFill>
            <a:srgbClr val="2D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5524804"/>
            <a:ext cx="6001344" cy="647395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5.  Modelo predictivo de churn (regresión logística / Random Forest)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8100000">
            <a:off x="11140135" y="411480"/>
            <a:ext cx="502920" cy="502920"/>
          </a:xfrm>
          <a:prstGeom prst="triangl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 rot="8100000">
            <a:off x="11414455" y="411480"/>
            <a:ext cx="411480" cy="411480"/>
          </a:xfrm>
          <a:prstGeom prst="triangle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91440" cy="100584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5F7FA"/>
                </a:solidFill>
                <a:latin typeface="Segoe U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78ADD"/>
                </a:solidFill>
                <a:latin typeface="Segoe UI"/>
              </a:rPr>
              <a:t>RetailIQ 360° — Preguntas y comentarios del jurado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8229600" cy="107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 dirty="0">
                <a:solidFill>
                  <a:srgbClr val="F5F7FA"/>
                </a:solidFill>
                <a:latin typeface="Segoe UI"/>
              </a:rPr>
              <a:t>Carmen M. Rodríguez  ·  Tamara W. Peña</a:t>
            </a:r>
            <a:endParaRPr lang="es-AR" sz="1500" b="1" i="0" dirty="0">
              <a:solidFill>
                <a:srgbClr val="F5F7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lang="en-US" sz="1500" b="1" dirty="0">
              <a:solidFill>
                <a:srgbClr val="F5F7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1500" b="1" i="0" dirty="0">
              <a:solidFill>
                <a:srgbClr val="F5F7FA"/>
              </a:solidFill>
              <a:latin typeface="Segoe UI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 dirty="0" err="1">
                <a:solidFill>
                  <a:srgbClr val="B8C0CF"/>
                </a:solidFill>
                <a:latin typeface="Segoe UI"/>
              </a:rPr>
              <a:t>Repositorio</a:t>
            </a:r>
            <a:r>
              <a:rPr sz="1300" b="0" i="0" dirty="0">
                <a:solidFill>
                  <a:srgbClr val="B8C0CF"/>
                </a:solidFill>
                <a:latin typeface="Segoe UI"/>
              </a:rPr>
              <a:t> del </a:t>
            </a:r>
            <a:r>
              <a:rPr sz="1300" b="0" i="0" dirty="0" err="1">
                <a:solidFill>
                  <a:srgbClr val="B8C0CF"/>
                </a:solidFill>
                <a:latin typeface="Segoe UI"/>
              </a:rPr>
              <a:t>proyecto</a:t>
            </a:r>
            <a:r>
              <a:rPr sz="1300" b="0" i="0" dirty="0">
                <a:solidFill>
                  <a:srgbClr val="B8C0CF"/>
                </a:solidFill>
                <a:latin typeface="Segoe UI"/>
              </a:rPr>
              <a:t>: GitHub</a:t>
            </a:r>
          </a:p>
        </p:txBody>
      </p:sp>
      <p:pic>
        <p:nvPicPr>
          <p:cNvPr id="11" name="Imagen 10">
            <a:hlinkClick r:id="rId2"/>
            <a:extLst>
              <a:ext uri="{FF2B5EF4-FFF2-40B4-BE49-F238E27FC236}">
                <a16:creationId xmlns:a16="http://schemas.microsoft.com/office/drawing/2014/main" id="{C59BA9D2-EE7B-D540-85BC-B2861BEF3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031" y="4491961"/>
            <a:ext cx="1414799" cy="1414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1015</Words>
  <Application>Microsoft Office PowerPoint</Application>
  <PresentationFormat>Panorámica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Carmen Rodriguez</cp:lastModifiedBy>
  <cp:revision>5</cp:revision>
  <dcterms:created xsi:type="dcterms:W3CDTF">2013-01-27T09:14:16Z</dcterms:created>
  <dcterms:modified xsi:type="dcterms:W3CDTF">2026-07-10T00:08:49Z</dcterms:modified>
  <cp:category/>
</cp:coreProperties>
</file>